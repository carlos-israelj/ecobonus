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(Pausa. Mira al jurado.) Mientras yo hablo estos tres minutos, el departamento de Lima va a generar unas 22 toneladas de basura. Según el MINAM, son más de 10 mil toneladas cada día. Y casi nada de eso se aprovecha: en Perú solo el 2,8% de los residuos se valoriza.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2024 Perú generó casi 9 millones de toneladas de residuos. Tenemos programas de limpieza, pero sin trazabilidad. Tenemos ciudadanos dispuestos, pero sin ningún incentivo.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OMS advierte que el 99% de la población mundial respira aire fuera de sus guías, con 4,2 millones de muertes prematuras al año, y recomienda mejorar la gestión de residuos municipales para reducir esa contaminación. En Lima, el PM2.5 llegó a 18,2 microgramos por metro cúbico en 2024, más de tres veces la guía de la OMS, que es de 5 (dato de IQAir).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eso creamos Eco Bonus: un clean-to-earn, como un Pokémon Go que descontamina tu ciudad. Abres el mapa, tocas un pin-hoja (rojo, amarillo o verde) y ves la foto y los datos del foco, lo limpias, subes foto antes y después, y un validador lo aprueba. Ganas puntos Eco y los canjeas por productos reales: arroz, aceite, útiles escolares, aportados por marcas sponsor.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construimos sobre Stellar, sin emitir un token: usamos la red para lo que mejor hace, registro verificable a costo mínimo. Es RWA real: cada foco y cada limpieza quedan registrados con evidencia auditable, y cada voucher respalda un producto físico cuyo canje se registra on-chain. Y es un juego: hojas que pasan de rojo a verde, niveles, rachas, logros on-chain y ranking entre universidades.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ganan: los recolectores reciben recompensas, los sponsors llegan a su público en el lugar del impacto, el MINAM y los municipios obtienen datos abiertos, y las universidades activan a miles de estudiantes.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mostramos el MVP. Después: un piloto en universidades de Lima, alianzas con el MINAM y municipios, y expansión a Latinoamérica.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Lima no necesita más discursos: necesita miles de manos limpiando, y una razón para hacerlo. Eco Bonus se la da. Cada cuadra limpia, un impacto verificable. Buscamos sponsors piloto, universidades aliadas y validadores.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457200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45B60"/>
          </a:solidFill>
          <a:ln w="12700">
            <a:solidFill>
              <a:srgbClr val="145B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120640" y="1307592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2157984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5120640" y="3008376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45B60"/>
          </a:solidFill>
          <a:ln w="12700">
            <a:solidFill>
              <a:srgbClr val="145B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858768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5971032" y="457200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71032" y="1307592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5971032" y="2157984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45B60"/>
          </a:solidFill>
          <a:ln w="12700">
            <a:solidFill>
              <a:srgbClr val="145B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71032" y="3008376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4CD787"/>
          </a:solidFill>
          <a:ln w="12700">
            <a:solidFill>
              <a:srgbClr val="4CD7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5971032" y="3858768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45B60"/>
          </a:solidFill>
          <a:ln w="12700">
            <a:solidFill>
              <a:srgbClr val="145B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21424" y="457200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45B60"/>
          </a:solidFill>
          <a:ln w="12700">
            <a:solidFill>
              <a:srgbClr val="145B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6821424" y="1307592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45B60"/>
          </a:solidFill>
          <a:ln w="12700">
            <a:solidFill>
              <a:srgbClr val="145B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21424" y="2157984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6821424" y="3008376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21424" y="3858768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7671816" y="457200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71816" y="1307592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4CD787"/>
          </a:solidFill>
          <a:ln w="12700">
            <a:solidFill>
              <a:srgbClr val="4CD7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7671816" y="2157984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45B60"/>
          </a:solidFill>
          <a:ln w="12700">
            <a:solidFill>
              <a:srgbClr val="145B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71816" y="3008376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7671816" y="3858768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777240"/>
                </a:moveTo>
                <a:lnTo>
                  <a:pt x="0" y="388620"/>
                </a:lnTo>
                <a:cubicBezTo>
                  <a:pt x="0" y="173985"/>
                  <a:pt x="173985" y="0"/>
                  <a:pt x="388620" y="0"/>
                </a:cubicBezTo>
                <a:lnTo>
                  <a:pt x="777240" y="0"/>
                </a:lnTo>
                <a:lnTo>
                  <a:pt x="777240" y="388620"/>
                </a:lnTo>
                <a:cubicBezTo>
                  <a:pt x="777240" y="603255"/>
                  <a:pt x="603255" y="777240"/>
                  <a:pt x="388620" y="777240"/>
                </a:cubicBezTo>
                <a:close/>
              </a:path>
            </a:pathLst>
          </a:cu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15544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</a:t>
            </a:r>
            <a:pPr indent="0" marL="0">
              <a:buNone/>
            </a:pPr>
            <a:r>
              <a:rPr lang="en-US" sz="60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6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514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 tu ciudad. Gana recompensas reales.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160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CLEAN-TO-EARN SOBRE STELLAR · LIMA, PERÚ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9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limpia a ciegas y sin recompensa.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97680" y="123444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685800"/>
                </a:moveTo>
                <a:lnTo>
                  <a:pt x="0" y="342900"/>
                </a:lnTo>
                <a:cubicBezTo>
                  <a:pt x="0" y="153516"/>
                  <a:pt x="153516" y="0"/>
                  <a:pt x="342900" y="0"/>
                </a:cubicBezTo>
                <a:lnTo>
                  <a:pt x="685800" y="0"/>
                </a:lnTo>
                <a:lnTo>
                  <a:pt x="685800" y="342900"/>
                </a:lnTo>
                <a:cubicBezTo>
                  <a:pt x="685800" y="532284"/>
                  <a:pt x="532284" y="685800"/>
                  <a:pt x="342900" y="685800"/>
                </a:cubicBezTo>
                <a:close/>
              </a:path>
            </a:pathLst>
          </a:custGeom>
          <a:solidFill>
            <a:srgbClr val="3ED6C0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16636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Focos invisibles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16636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en tiempo real dónde están los puntos más contaminados ni cómo evolucionan.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42316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685800"/>
                </a:moveTo>
                <a:lnTo>
                  <a:pt x="0" y="342900"/>
                </a:lnTo>
                <a:cubicBezTo>
                  <a:pt x="0" y="153516"/>
                  <a:pt x="153516" y="0"/>
                  <a:pt x="342900" y="0"/>
                </a:cubicBezTo>
                <a:lnTo>
                  <a:pt x="685800" y="0"/>
                </a:lnTo>
                <a:lnTo>
                  <a:pt x="685800" y="342900"/>
                </a:lnTo>
                <a:cubicBezTo>
                  <a:pt x="685800" y="532284"/>
                  <a:pt x="532284" y="685800"/>
                  <a:pt x="342900" y="685800"/>
                </a:cubicBezTo>
                <a:close/>
              </a:path>
            </a:pathLst>
          </a:custGeom>
          <a:solidFill>
            <a:srgbClr val="3ED6C0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sin trazabilidad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788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programas públicos y universitarios actúan, pero sin evidencia abierta que mida resultados.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361188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685800"/>
                </a:moveTo>
                <a:lnTo>
                  <a:pt x="0" y="342900"/>
                </a:lnTo>
                <a:cubicBezTo>
                  <a:pt x="0" y="153516"/>
                  <a:pt x="153516" y="0"/>
                  <a:pt x="342900" y="0"/>
                </a:cubicBezTo>
                <a:lnTo>
                  <a:pt x="685800" y="0"/>
                </a:lnTo>
                <a:lnTo>
                  <a:pt x="685800" y="342900"/>
                </a:lnTo>
                <a:cubicBezTo>
                  <a:pt x="685800" y="532284"/>
                  <a:pt x="532284" y="685800"/>
                  <a:pt x="342900" y="685800"/>
                </a:cubicBezTo>
                <a:close/>
              </a:path>
            </a:pathLst>
          </a:custGeom>
          <a:solidFill>
            <a:srgbClr val="3ED6C0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incentivo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3977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limpia lo hace gratis y sin reconocimiento; así la cultura ecológica no escala.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4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EN CIFRAS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respaldan el problema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0" y="310896"/>
                </a:moveTo>
                <a:lnTo>
                  <a:pt x="0" y="155448"/>
                </a:lnTo>
                <a:cubicBezTo>
                  <a:pt x="0" y="69594"/>
                  <a:pt x="69594" y="0"/>
                  <a:pt x="155448" y="0"/>
                </a:cubicBezTo>
                <a:lnTo>
                  <a:pt x="310896" y="0"/>
                </a:lnTo>
                <a:lnTo>
                  <a:pt x="310896" y="155448"/>
                </a:lnTo>
                <a:cubicBezTo>
                  <a:pt x="310896" y="241302"/>
                  <a:pt x="241302" y="310896"/>
                  <a:pt x="155448" y="310896"/>
                </a:cubicBezTo>
                <a:close/>
              </a:path>
            </a:pathLst>
          </a:custGeom>
          <a:solidFill>
            <a:srgbClr val="3ED6C0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8,99 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3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toneladas de residuos municipales generadas en Perú en 2024. Lima produce 10 488 t al día.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MINAM · 2024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33472" y="160020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0" y="310896"/>
                </a:moveTo>
                <a:lnTo>
                  <a:pt x="0" y="155448"/>
                </a:lnTo>
                <a:cubicBezTo>
                  <a:pt x="0" y="69594"/>
                  <a:pt x="69594" y="0"/>
                  <a:pt x="155448" y="0"/>
                </a:cubicBezTo>
                <a:lnTo>
                  <a:pt x="310896" y="0"/>
                </a:lnTo>
                <a:lnTo>
                  <a:pt x="310896" y="155448"/>
                </a:lnTo>
                <a:cubicBezTo>
                  <a:pt x="310896" y="241302"/>
                  <a:pt x="241302" y="310896"/>
                  <a:pt x="155448" y="310896"/>
                </a:cubicBezTo>
                <a:close/>
              </a:path>
            </a:pathLst>
          </a:custGeom>
          <a:solidFill>
            <a:srgbClr val="3ED6C0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3472" y="2011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28346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3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se valoriza o recicla de todo lo que el país genera.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633472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MINAM · 2024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18304" y="160020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0" y="310896"/>
                </a:moveTo>
                <a:lnTo>
                  <a:pt x="0" y="155448"/>
                </a:lnTo>
                <a:cubicBezTo>
                  <a:pt x="0" y="69594"/>
                  <a:pt x="69594" y="0"/>
                  <a:pt x="155448" y="0"/>
                </a:cubicBezTo>
                <a:lnTo>
                  <a:pt x="310896" y="0"/>
                </a:lnTo>
                <a:lnTo>
                  <a:pt x="310896" y="155448"/>
                </a:lnTo>
                <a:cubicBezTo>
                  <a:pt x="310896" y="241302"/>
                  <a:pt x="241302" y="310896"/>
                  <a:pt x="155448" y="310896"/>
                </a:cubicBezTo>
                <a:close/>
              </a:path>
            </a:pathLst>
          </a:custGeom>
          <a:solidFill>
            <a:srgbClr val="3ED6C0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18304" y="2011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28346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3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población mundial respira aire por encima de las guías de la OMS. Causa 4,2 M de muertes prematuras al año.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18304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· DATOS 2019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160020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0" y="310896"/>
                </a:moveTo>
                <a:lnTo>
                  <a:pt x="0" y="155448"/>
                </a:lnTo>
                <a:cubicBezTo>
                  <a:pt x="0" y="69594"/>
                  <a:pt x="69594" y="0"/>
                  <a:pt x="155448" y="0"/>
                </a:cubicBezTo>
                <a:lnTo>
                  <a:pt x="310896" y="0"/>
                </a:lnTo>
                <a:lnTo>
                  <a:pt x="310896" y="155448"/>
                </a:lnTo>
                <a:cubicBezTo>
                  <a:pt x="310896" y="241302"/>
                  <a:pt x="241302" y="310896"/>
                  <a:pt x="155448" y="310896"/>
                </a:cubicBezTo>
                <a:close/>
              </a:path>
            </a:pathLst>
          </a:custGeom>
          <a:solidFill>
            <a:srgbClr val="3ED6C0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03136" y="20116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18,2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803136" y="28346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3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µg/m³ de PM2.5 en Lima en 2024: 3,6 veces la guía anual de la OMS de 5 µg/m³.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03136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IQAIR · GUÍA OMS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MINAM (gob.pe, 2025) · OMS, hoja informativa de contaminación del aire (2024) · IQAir World Air Quality Report 2024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9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· CLEAN-TO-EARN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Limpia. Verifica. Gana.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54480" y="2148840"/>
            <a:ext cx="1005840" cy="0"/>
          </a:xfrm>
          <a:prstGeom prst="line">
            <a:avLst/>
          </a:prstGeom>
          <a:noFill/>
          <a:ln w="19050">
            <a:solidFill>
              <a:srgbClr val="3ED6C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0" y="457200"/>
                </a:lnTo>
                <a:cubicBezTo>
                  <a:pt x="0" y="204688"/>
                  <a:pt x="204688" y="0"/>
                  <a:pt x="457200" y="0"/>
                </a:cubicBezTo>
                <a:lnTo>
                  <a:pt x="914400" y="0"/>
                </a:lnTo>
                <a:lnTo>
                  <a:pt x="914400" y="457200"/>
                </a:lnTo>
                <a:cubicBezTo>
                  <a:pt x="914400" y="709712"/>
                  <a:pt x="709712" y="914400"/>
                  <a:pt x="457200" y="914400"/>
                </a:cubicBezTo>
                <a:close/>
              </a:path>
            </a:pathLst>
          </a:custGeom>
          <a:solidFill>
            <a:srgbClr val="3ED6C0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en vivo con pines-hoja: rojo, amarillo o verde según el nivel de contaminación.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39312" y="2148840"/>
            <a:ext cx="1005840" cy="0"/>
          </a:xfrm>
          <a:prstGeom prst="line">
            <a:avLst/>
          </a:prstGeom>
          <a:noFill/>
          <a:ln w="19050">
            <a:solidFill>
              <a:srgbClr val="3ED6C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633472" y="169164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0" y="457200"/>
                </a:lnTo>
                <a:cubicBezTo>
                  <a:pt x="0" y="204688"/>
                  <a:pt x="204688" y="0"/>
                  <a:pt x="457200" y="0"/>
                </a:cubicBezTo>
                <a:lnTo>
                  <a:pt x="914400" y="0"/>
                </a:lnTo>
                <a:lnTo>
                  <a:pt x="914400" y="457200"/>
                </a:lnTo>
                <a:cubicBezTo>
                  <a:pt x="914400" y="709712"/>
                  <a:pt x="709712" y="914400"/>
                  <a:pt x="457200" y="914400"/>
                </a:cubicBezTo>
                <a:close/>
              </a:path>
            </a:pathLst>
          </a:custGeom>
          <a:solidFill>
            <a:srgbClr val="3ED6C0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633472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32004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foco, llega al lugar y toma la foto antes, con GPS.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24144" y="2148840"/>
            <a:ext cx="1005840" cy="0"/>
          </a:xfrm>
          <a:prstGeom prst="line">
            <a:avLst/>
          </a:prstGeom>
          <a:noFill/>
          <a:ln w="19050">
            <a:solidFill>
              <a:srgbClr val="3ED6C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18304" y="169164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0" y="457200"/>
                </a:lnTo>
                <a:cubicBezTo>
                  <a:pt x="0" y="204688"/>
                  <a:pt x="204688" y="0"/>
                  <a:pt x="457200" y="0"/>
                </a:cubicBezTo>
                <a:lnTo>
                  <a:pt x="914400" y="0"/>
                </a:lnTo>
                <a:lnTo>
                  <a:pt x="914400" y="457200"/>
                </a:lnTo>
                <a:cubicBezTo>
                  <a:pt x="914400" y="709712"/>
                  <a:pt x="709712" y="914400"/>
                  <a:pt x="457200" y="914400"/>
                </a:cubicBezTo>
                <a:close/>
              </a:path>
            </a:pathLst>
          </a:custGeom>
          <a:solidFill>
            <a:srgbClr val="3ED6C0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18304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718304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718304" y="32004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después. Un validador aprueba y la evidencia queda en Stellar.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03136" y="169164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0" y="457200"/>
                </a:lnTo>
                <a:cubicBezTo>
                  <a:pt x="0" y="204688"/>
                  <a:pt x="204688" y="0"/>
                  <a:pt x="457200" y="0"/>
                </a:cubicBezTo>
                <a:lnTo>
                  <a:pt x="914400" y="0"/>
                </a:lnTo>
                <a:lnTo>
                  <a:pt x="914400" y="457200"/>
                </a:lnTo>
                <a:cubicBezTo>
                  <a:pt x="914400" y="709712"/>
                  <a:pt x="709712" y="914400"/>
                  <a:pt x="457200" y="914400"/>
                </a:cubicBezTo>
                <a:close/>
              </a:path>
            </a:pathLst>
          </a:custGeom>
          <a:solidFill>
            <a:srgbClr val="0E4B4F"/>
          </a:solidFill>
          <a:ln w="12700">
            <a:solidFill>
              <a:srgbClr val="0E4B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03136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803136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803136" y="32004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Recibes puntos Eco y los canjeas por productos reales de marcas aliadas.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9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Stellar, RWA y gaming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E4B4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0E4B4F"/>
          </a:solidFill>
          <a:ln w="12700">
            <a:solidFill>
              <a:srgbClr val="0E4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token. Contratos Soroban que registran limpiezas, canjes y logros, con fees patrocinados y passkeys: cero fricción cripto.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E4B4F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81051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0E4B4F"/>
          </a:solidFill>
          <a:ln w="12700">
            <a:solidFill>
              <a:srgbClr val="0E4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810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Focos y limpiezas georreferenciados con evidencia verificable, y vouchers de productos físicos con canje registrado on-chain.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E4B4F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81051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0E4B4F"/>
          </a:solidFill>
          <a:ln w="12700">
            <a:solidFill>
              <a:srgbClr val="0E4B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810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2004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Pines-hoja que pasan de rojo a verde, niveles, rachas, logros on-chain no transferibles y ranking entre distritos y universidades.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9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ecosistema donde todos ganan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66160" y="1874520"/>
            <a:ext cx="2011680" cy="2011680"/>
          </a:xfrm>
          <a:custGeom>
            <a:avLst/>
            <a:gdLst/>
            <a:ahLst/>
            <a:cxnLst/>
            <a:rect l="l" t="t" r="r" b="b"/>
            <a:pathLst>
              <a:path w="2011680" h="2011680">
                <a:moveTo>
                  <a:pt x="0" y="2011680"/>
                </a:moveTo>
                <a:lnTo>
                  <a:pt x="0" y="1005840"/>
                </a:lnTo>
                <a:cubicBezTo>
                  <a:pt x="0" y="450315"/>
                  <a:pt x="450315" y="0"/>
                  <a:pt x="1005840" y="0"/>
                </a:cubicBezTo>
                <a:lnTo>
                  <a:pt x="2011680" y="0"/>
                </a:lnTo>
                <a:lnTo>
                  <a:pt x="2011680" y="1005840"/>
                </a:lnTo>
                <a:cubicBezTo>
                  <a:pt x="2011680" y="1561365"/>
                  <a:pt x="1561365" y="2011680"/>
                  <a:pt x="1005840" y="2011680"/>
                </a:cubicBezTo>
                <a:close/>
              </a:path>
            </a:pathLst>
          </a:custGeom>
          <a:solidFill>
            <a:srgbClr val="0E4B4F"/>
          </a:solidFill>
          <a:ln w="12700">
            <a:solidFill>
              <a:srgbClr val="0E4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66160" y="18745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</a:t>
            </a:r>
            <a:pPr algn="ctr" indent="0" marL="0">
              <a:buNone/>
            </a:pPr>
            <a:r>
              <a:rPr lang="en-US" sz="20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7432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E4B4F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Recolectores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928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Recompensas reales y reconocimiento.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27432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E4B4F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944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 y puntos por verificar.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27432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E4B4F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995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Ranking, voluntariado y cultura ambiental.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1984248"/>
            <a:ext cx="27432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E4B4F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03504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4140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visible en el punto de impacto.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3035808"/>
            <a:ext cx="27432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E4B4F">
                <a:alpha val="14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03504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MINAM y municipios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4655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abiertos y focos priorizados.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9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CRECIMIENTO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Lima a Latinoamérica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D3F1EC"/>
          </a:solidFill>
          <a:ln w="12700">
            <a:solidFill>
              <a:srgbClr val="D3F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3310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Hackatón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749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en testnet: mapa, misión, validación y canje.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33472" y="265176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8FE3D5"/>
          </a:solidFill>
          <a:ln w="12700">
            <a:solidFill>
              <a:srgbClr val="8FE3D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2852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291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E4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 3 universidades y 1 o 2 sponsors en Lima.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18304" y="21945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9472" y="2395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19472" y="2834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MINAM y municipios con programas activos.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03136" y="173736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0E4B4F"/>
          </a:solidFill>
          <a:ln w="12700">
            <a:solidFill>
              <a:srgbClr val="0E4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04304" y="1938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004304" y="237744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embajadores, mainnet y expansión a LATAM.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4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82296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145B60"/>
          </a:solidFill>
          <a:ln w="12700">
            <a:solidFill>
              <a:srgbClr val="145B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5669280" y="162763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4CD787"/>
          </a:solidFill>
          <a:ln w="12700">
            <a:solidFill>
              <a:srgbClr val="4CD7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43230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145B60"/>
          </a:solidFill>
          <a:ln w="12700">
            <a:solidFill>
              <a:srgbClr val="145B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6473952" y="82296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73952" y="162763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145B60"/>
          </a:solidFill>
          <a:ln w="12700">
            <a:solidFill>
              <a:srgbClr val="145B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6473952" y="243230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78624" y="82296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145B60"/>
          </a:solidFill>
          <a:ln w="12700">
            <a:solidFill>
              <a:srgbClr val="145B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7278624" y="162763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78624" y="243230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4CD787"/>
          </a:solidFill>
          <a:ln w="12700">
            <a:solidFill>
              <a:srgbClr val="4CD7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8083296" y="82296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83296" y="162763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145B60"/>
          </a:solidFill>
          <a:ln w="12700">
            <a:solidFill>
              <a:srgbClr val="145B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8083296" y="243230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731520"/>
                </a:moveTo>
                <a:lnTo>
                  <a:pt x="0" y="365760"/>
                </a:lnTo>
                <a:cubicBezTo>
                  <a:pt x="0" y="163751"/>
                  <a:pt x="163751" y="0"/>
                  <a:pt x="365760" y="0"/>
                </a:cubicBezTo>
                <a:lnTo>
                  <a:pt x="731520" y="0"/>
                </a:lnTo>
                <a:lnTo>
                  <a:pt x="731520" y="365760"/>
                </a:lnTo>
                <a:cubicBezTo>
                  <a:pt x="731520" y="567769"/>
                  <a:pt x="567769" y="731520"/>
                  <a:pt x="365760" y="731520"/>
                </a:cubicBezTo>
                <a:close/>
              </a:path>
            </a:pathLst>
          </a:cu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</a:t>
            </a:r>
            <a:pPr indent="0" marL="0">
              <a:buNone/>
            </a:pPr>
            <a:r>
              <a:rPr lang="en-US" sz="30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6459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cuadra limpia, un impacto verificable.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E4B4F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piloto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37490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E4B4F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86000" y="3749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 aliadas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3749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E4B4F"/>
          </a:solidFill>
          <a:ln w="12700">
            <a:solidFill>
              <a:srgbClr val="3ED6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06240" y="3749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Validadores y embajadores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E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BUSCANDO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 Bonus</dc:title>
  <dc:subject>PptxGenJS Presentation</dc:subject>
  <dc:creator>PptxGenJS</dc:creator>
  <cp:lastModifiedBy>PptxGenJS</cp:lastModifiedBy>
  <cp:revision>1</cp:revision>
  <dcterms:created xsi:type="dcterms:W3CDTF">2026-09-24T12:14:13Z</dcterms:created>
  <dcterms:modified xsi:type="dcterms:W3CDTF">2026-09-24T12:14:13Z</dcterms:modified>
</cp:coreProperties>
</file>